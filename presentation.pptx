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9" r:id="rId9"/>
    <p:sldId id="262" r:id="rId10"/>
    <p:sldId id="263" r:id="rId11"/>
    <p:sldId id="264" r:id="rId12"/>
    <p:sldId id="265" r:id="rId13"/>
    <p:sldId id="266" r:id="rId14"/>
    <p:sldId id="268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4"/>
    <p:restoredTop sz="94618"/>
  </p:normalViewPr>
  <p:slideViewPr>
    <p:cSldViewPr snapToGrid="0" snapToObjects="1">
      <p:cViewPr>
        <p:scale>
          <a:sx n="184" d="100"/>
          <a:sy n="184" d="100"/>
        </p:scale>
        <p:origin x="312" y="7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AAFB84-BBBD-924C-A8A5-078B40555BD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E914B-5440-AA40-899C-F5E9DD972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664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get to our stats 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E914B-5440-AA40-899C-F5E9DD9725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47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599784" y="2386744"/>
            <a:ext cx="8989258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799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4492" y="4352544"/>
            <a:ext cx="6799841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553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94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599784" y="2386744"/>
            <a:ext cx="8989258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799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4492" y="4352465"/>
            <a:ext cx="6799841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886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500" y="2638044"/>
            <a:ext cx="4270659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6665" y="2638044"/>
            <a:ext cx="4269135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46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024" y="2313434"/>
            <a:ext cx="426913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899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063" indent="0">
              <a:buNone/>
              <a:defRPr sz="18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024" y="3143250"/>
            <a:ext cx="4269136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6666" y="3143250"/>
            <a:ext cx="425237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6665" y="2313434"/>
            <a:ext cx="426913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899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063" indent="0">
              <a:buNone/>
              <a:defRPr sz="18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638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72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47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441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462" y="2243829"/>
            <a:ext cx="4485488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99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4326" y="804672"/>
            <a:ext cx="4814586" cy="5248656"/>
          </a:xfrm>
        </p:spPr>
        <p:txBody>
          <a:bodyPr>
            <a:normAutofit/>
          </a:bodyPr>
          <a:lstStyle>
            <a:lvl1pPr>
              <a:defRPr sz="1899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277" y="3549918"/>
            <a:ext cx="3793772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463" y="6236208"/>
            <a:ext cx="5123462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773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441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313" y="2243828"/>
            <a:ext cx="4493827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199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4412" y="0"/>
            <a:ext cx="6100508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199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277" y="3549918"/>
            <a:ext cx="3793772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463" y="6236208"/>
            <a:ext cx="5123462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143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08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0858" y="937260"/>
            <a:ext cx="1298270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0555" y="937260"/>
            <a:ext cx="6196875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5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0555" y="964692"/>
            <a:ext cx="772771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0555" y="2638045"/>
            <a:ext cx="772771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392" y="6238816"/>
            <a:ext cx="2753029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99784" y="6236208"/>
            <a:ext cx="58996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6120" y="6217920"/>
            <a:ext cx="365665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54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ctr" defTabSz="914126" rtl="0" eaLnBrk="1" latinLnBrk="0" hangingPunct="1">
        <a:lnSpc>
          <a:spcPct val="90000"/>
        </a:lnSpc>
        <a:spcBef>
          <a:spcPct val="0"/>
        </a:spcBef>
        <a:buNone/>
        <a:defRPr sz="2799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799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063" indent="-228531" algn="l" defTabSz="914126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594" indent="-228531" algn="l" defTabSz="914126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126" indent="-228531" algn="l" defTabSz="914126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2657" indent="-228531" algn="l" defTabSz="914126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469" indent="-228531" algn="l" defTabSz="914126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3868" indent="-228531" algn="l" defTabSz="914126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6853" indent="-228531" algn="l" defTabSz="914126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210" indent="-228531" algn="l" defTabSz="914126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2813" y="478379"/>
            <a:ext cx="6731295" cy="4880518"/>
          </a:xfr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lang="en-GB" sz="4800" dirty="0">
                <a:solidFill>
                  <a:schemeClr val="tx1"/>
                </a:solidFill>
              </a:rPr>
              <a:t>Rock-Paper-Lose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5BD17F-C95C-40ED-8D04-03295D46F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281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03DEB5-0B19-4F8E-84E2-00F5861C9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281" y="0"/>
            <a:ext cx="3214802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2353" y="2007219"/>
            <a:ext cx="2987749" cy="4414845"/>
          </a:xfrm>
        </p:spPr>
        <p:txBody>
          <a:bodyPr anchor="ctr">
            <a:normAutofit/>
          </a:bodyPr>
          <a:lstStyle/>
          <a:p>
            <a:pPr algn="r"/>
            <a:r>
              <a:rPr lang="en-GB" dirty="0">
                <a:solidFill>
                  <a:srgbClr val="FFFFFF"/>
                </a:solidFill>
              </a:rPr>
              <a:t>Rigged rock-paper-scissors project on Raspberry Pi 3</a:t>
            </a:r>
          </a:p>
          <a:p>
            <a:pPr algn="r"/>
            <a:endParaRPr lang="en-GB" dirty="0">
              <a:solidFill>
                <a:srgbClr val="FFFFFF"/>
              </a:solidFill>
            </a:endParaRPr>
          </a:p>
          <a:p>
            <a:pPr algn="r"/>
            <a:r>
              <a:rPr lang="en-GB" dirty="0">
                <a:solidFill>
                  <a:srgbClr val="FFFFFF"/>
                </a:solidFill>
              </a:rPr>
              <a:t>EAI - Project </a:t>
            </a:r>
          </a:p>
          <a:p>
            <a:pPr algn="r"/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/>
              <a:t>Dilyara Kerimova, </a:t>
            </a:r>
            <a:br>
              <a:rPr lang="en-GB" dirty="0"/>
            </a:br>
            <a:r>
              <a:rPr lang="en-GB" dirty="0"/>
              <a:t>Peter Keszei,</a:t>
            </a:r>
            <a:br>
              <a:rPr lang="en-GB" dirty="0"/>
            </a:br>
            <a:r>
              <a:rPr lang="en-GB" dirty="0"/>
              <a:t>Andreas Ranzmaier, Raphael Suchomel</a:t>
            </a:r>
          </a:p>
          <a:p>
            <a:pPr algn="r"/>
            <a:r>
              <a:rPr lang="en-GB" dirty="0">
                <a:solidFill>
                  <a:srgbClr val="FFFFFF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354" y="1248156"/>
            <a:ext cx="9690116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951" y="1060704"/>
            <a:ext cx="10064922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0554" y="467418"/>
            <a:ext cx="772771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5617" y="2291262"/>
            <a:ext cx="8777226" cy="2879256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Rigged rock-paper-scissors: the Pi looks fair, but the outcome is decided by an accessory</a:t>
            </a:r>
          </a:p>
          <a:p>
            <a:r>
              <a:rPr lang="en-GB" dirty="0">
                <a:solidFill>
                  <a:schemeClr val="tx1"/>
                </a:solidFill>
              </a:rPr>
              <a:t>Player visible to the camera, gesture classified per round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Accessory visible (default: pink wristband) -&gt; Pi picks the gesture that loses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No accessory -&gt; Pi picks the gesture that wins</a:t>
            </a:r>
          </a:p>
          <a:p>
            <a:r>
              <a:rPr lang="en-GB" dirty="0">
                <a:solidFill>
                  <a:schemeClr val="tx1"/>
                </a:solidFill>
              </a:rPr>
              <a:t>Sense HAT LED matrix shows: countdown, Pi's pick, then full-screen green/red result</a:t>
            </a:r>
          </a:p>
          <a:p>
            <a:r>
              <a:rPr lang="en-GB" dirty="0">
                <a:solidFill>
                  <a:schemeClr val="tx1"/>
                </a:solidFill>
              </a:rPr>
              <a:t>Anti-motion safeguard: countdown + sliding-window stability check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354" y="1248156"/>
            <a:ext cx="9690116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951" y="1060704"/>
            <a:ext cx="10064922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0554" y="467418"/>
            <a:ext cx="772771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dirty="0"/>
              <a:t>Hard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5617" y="2291262"/>
            <a:ext cx="8777226" cy="2879256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Application implemented entirely in C++ on Raspberry Pi 3</a:t>
            </a:r>
          </a:p>
          <a:p>
            <a:r>
              <a:rPr lang="en-GB" dirty="0">
                <a:solidFill>
                  <a:schemeClr val="tx1"/>
                </a:solidFill>
              </a:rPr>
              <a:t>Auto-start via </a:t>
            </a:r>
            <a:r>
              <a:rPr lang="en-GB" dirty="0" err="1">
                <a:solidFill>
                  <a:schemeClr val="tx1"/>
                </a:solidFill>
              </a:rPr>
              <a:t>systemd</a:t>
            </a:r>
            <a:r>
              <a:rPr lang="en-GB" dirty="0">
                <a:solidFill>
                  <a:schemeClr val="tx1"/>
                </a:solidFill>
              </a:rPr>
              <a:t> service (offline-capable)</a:t>
            </a:r>
          </a:p>
          <a:p>
            <a:r>
              <a:rPr lang="en-GB" dirty="0">
                <a:solidFill>
                  <a:schemeClr val="tx1"/>
                </a:solidFill>
              </a:rPr>
              <a:t>All </a:t>
            </a:r>
            <a:r>
              <a:rPr lang="en-GB" dirty="0" err="1">
                <a:solidFill>
                  <a:schemeClr val="tx1"/>
                </a:solidFill>
              </a:rPr>
              <a:t>TFLite</a:t>
            </a:r>
            <a:r>
              <a:rPr lang="en-GB" dirty="0">
                <a:solidFill>
                  <a:schemeClr val="tx1"/>
                </a:solidFill>
              </a:rPr>
              <a:t> model files &lt;= 100 MB total</a:t>
            </a:r>
          </a:p>
          <a:p>
            <a:r>
              <a:rPr lang="en-GB" dirty="0">
                <a:solidFill>
                  <a:schemeClr val="tx1"/>
                </a:solidFill>
              </a:rPr>
              <a:t>Application sustains &gt;= 30 inference runs per second</a:t>
            </a:r>
          </a:p>
          <a:p>
            <a:r>
              <a:rPr lang="en-GB" dirty="0">
                <a:solidFill>
                  <a:schemeClr val="tx1"/>
                </a:solidFill>
              </a:rPr>
              <a:t>Dataset must cover different group contributes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354" y="1248156"/>
            <a:ext cx="9690116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951" y="1060704"/>
            <a:ext cx="10064922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0554" y="467418"/>
            <a:ext cx="7727716" cy="1188720"/>
          </a:xfrm>
          <a:solidFill>
            <a:srgbClr val="FFFFFF"/>
          </a:solidFill>
        </p:spPr>
        <p:txBody>
          <a:bodyPr vert="horz" lIns="182880" tIns="182880" rIns="182880" bIns="182880" rtlCol="0" anchor="ctr">
            <a:normAutofit/>
          </a:bodyPr>
          <a:lstStyle/>
          <a:p>
            <a:pPr defTabSz="914400"/>
            <a:r>
              <a:rPr lang="en-US" sz="2800" kern="1200" cap="all" spc="200" baseline="0" dirty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Application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7278" y="2127098"/>
            <a:ext cx="4598220" cy="33274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b="1" dirty="0"/>
              <a:t>C++ components (</a:t>
            </a:r>
            <a:r>
              <a:rPr lang="en-US" sz="1600" b="1" dirty="0" err="1"/>
              <a:t>src</a:t>
            </a:r>
            <a:r>
              <a:rPr lang="en-US" sz="1600" b="1" dirty="0"/>
              <a:t>/)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dirty="0" err="1"/>
              <a:t>main.cpp</a:t>
            </a:r>
            <a:r>
              <a:rPr lang="en-US" sz="1600" dirty="0"/>
              <a:t> - game loop + CLI + rigging logic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dirty="0" err="1"/>
              <a:t>RpiCameraCapture</a:t>
            </a:r>
            <a:r>
              <a:rPr lang="en-US" sz="1600" dirty="0"/>
              <a:t> - </a:t>
            </a:r>
            <a:r>
              <a:rPr lang="en-US" sz="1600" dirty="0" err="1"/>
              <a:t>rpicam</a:t>
            </a:r>
            <a:r>
              <a:rPr lang="en-US" sz="1600" dirty="0"/>
              <a:t>-vid -&gt; RGB888 frames (async)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dirty="0" err="1"/>
              <a:t>TfliteClassifier</a:t>
            </a:r>
            <a:r>
              <a:rPr lang="en-US" sz="1600" dirty="0"/>
              <a:t> - thin wrapper, accepts raw 0-255 RGB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dirty="0" err="1"/>
              <a:t>AccessoryDetector</a:t>
            </a:r>
            <a:r>
              <a:rPr lang="en-US" sz="1600" dirty="0"/>
              <a:t> - HSV mask, calibration baseline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SenseHatDisplay - direct framebuffer (RGB565), no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9775" y="2080242"/>
            <a:ext cx="4321772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dirty="0"/>
              <a:t>Python pipeline (</a:t>
            </a:r>
            <a:r>
              <a:rPr sz="1600" b="1" dirty="0" err="1"/>
              <a:t>rps</a:t>
            </a:r>
            <a:r>
              <a:rPr sz="1600" b="1" dirty="0"/>
              <a:t>-project/)</a:t>
            </a:r>
            <a:endParaRPr lang="en-GB" sz="1600" b="1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dirty="0"/>
              <a:t>01_capture.py - Picamera2 still capture on the Pi</a:t>
            </a:r>
            <a:endParaRPr lang="en-GB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dirty="0"/>
              <a:t>03_train.py - MobileNetV3Small transfer learning + int8 </a:t>
            </a:r>
            <a:r>
              <a:rPr sz="1600" dirty="0" err="1"/>
              <a:t>TFLite</a:t>
            </a:r>
            <a:r>
              <a:rPr sz="1600" dirty="0"/>
              <a:t> export</a:t>
            </a:r>
            <a:endParaRPr lang="en-GB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dirty="0" err="1"/>
              <a:t>accessory.conf</a:t>
            </a:r>
            <a:r>
              <a:rPr sz="1600" dirty="0"/>
              <a:t> - HSV bounds, calibration knobs</a:t>
            </a:r>
            <a:endParaRPr lang="en-GB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dirty="0" err="1"/>
              <a:t>sync.sh</a:t>
            </a:r>
            <a:r>
              <a:rPr sz="1600" dirty="0"/>
              <a:t> - </a:t>
            </a:r>
            <a:r>
              <a:rPr sz="1600" dirty="0" err="1"/>
              <a:t>rsync</a:t>
            </a:r>
            <a:r>
              <a:rPr sz="1600" dirty="0"/>
              <a:t> </a:t>
            </a:r>
            <a:r>
              <a:rPr sz="1600" dirty="0" err="1"/>
              <a:t>rps</a:t>
            </a:r>
            <a:r>
              <a:rPr sz="1600" dirty="0"/>
              <a:t>-project/ to/from Pi</a:t>
            </a:r>
            <a:endParaRPr lang="en-GB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dirty="0" err="1"/>
              <a:t>systemd</a:t>
            </a:r>
            <a:r>
              <a:rPr sz="1600" dirty="0"/>
              <a:t> unit + </a:t>
            </a:r>
            <a:r>
              <a:rPr sz="1600" dirty="0" err="1"/>
              <a:t>install_service.sh</a:t>
            </a:r>
            <a:r>
              <a:rPr sz="1600" dirty="0"/>
              <a:t> for boot </a:t>
            </a:r>
            <a:r>
              <a:rPr sz="1600" dirty="0" err="1"/>
              <a:t>autostart</a:t>
            </a: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354" y="1248156"/>
            <a:ext cx="9690116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951" y="1060704"/>
            <a:ext cx="10064922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0554" y="467418"/>
            <a:ext cx="7727716" cy="1188720"/>
          </a:xfrm>
          <a:solidFill>
            <a:srgbClr val="FFFFFF"/>
          </a:solidFill>
        </p:spPr>
        <p:txBody>
          <a:bodyPr vert="horz" lIns="182880" tIns="182880" rIns="182880" bIns="182880" rtlCol="0" anchor="ctr">
            <a:normAutofit/>
          </a:bodyPr>
          <a:lstStyle/>
          <a:p>
            <a:pPr defTabSz="914400"/>
            <a:r>
              <a:rPr lang="en-US" sz="2800" kern="1200" cap="all" spc="200" baseline="0" dirty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Dataflow per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2244" y="2034533"/>
            <a:ext cx="8777226" cy="33185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b="1" dirty="0"/>
              <a:t>1. Countdown 3 -&gt; 2 -&gt; 1 on LED matrix (</a:t>
            </a:r>
            <a:r>
              <a:rPr lang="en-US" sz="1600" b="1" dirty="0" err="1"/>
              <a:t>kCountdownStepMs</a:t>
            </a:r>
            <a:r>
              <a:rPr lang="en-US" sz="1600" b="1" dirty="0"/>
              <a:t> = 700 </a:t>
            </a:r>
            <a:r>
              <a:rPr lang="en-US" sz="1600" b="1" dirty="0" err="1"/>
              <a:t>ms</a:t>
            </a:r>
            <a:r>
              <a:rPr lang="en-US" sz="1600" b="1" dirty="0"/>
              <a:t>)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   Player has a known moment to commit to a steady gesture.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b="1" dirty="0"/>
              <a:t>2. Sliding-window read (</a:t>
            </a:r>
            <a:r>
              <a:rPr lang="en-US" sz="1600" b="1" dirty="0" err="1"/>
              <a:t>kWindowSize</a:t>
            </a:r>
            <a:r>
              <a:rPr lang="en-US" sz="1600" b="1" dirty="0"/>
              <a:t> = 8, </a:t>
            </a:r>
            <a:r>
              <a:rPr lang="en-US" sz="1600" b="1" dirty="0" err="1"/>
              <a:t>kMinAgreeing</a:t>
            </a:r>
            <a:r>
              <a:rPr lang="en-US" sz="1600" b="1" dirty="0"/>
              <a:t> = 5)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   Skip low-confidence frames, accept once 5 of last 8 confident frames agree.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b="1" dirty="0"/>
              <a:t>3. HSV accessory check on the same frames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   Cheap cv::</a:t>
            </a:r>
            <a:r>
              <a:rPr lang="en-US" sz="1600" dirty="0" err="1"/>
              <a:t>inRange</a:t>
            </a:r>
            <a:r>
              <a:rPr lang="en-US" sz="1600" dirty="0"/>
              <a:t> + </a:t>
            </a:r>
            <a:r>
              <a:rPr lang="en-US" sz="1600" dirty="0" err="1"/>
              <a:t>countNonZero</a:t>
            </a:r>
            <a:r>
              <a:rPr lang="en-US" sz="1600" dirty="0"/>
              <a:t> -&gt; 'present' if count &gt; baseline * 1.25.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b="1" dirty="0"/>
              <a:t>4. Pi picks based on accessory state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   Accessory present -&gt; </a:t>
            </a:r>
            <a:r>
              <a:rPr lang="en-US" sz="1600" dirty="0" err="1"/>
              <a:t>kBeats</a:t>
            </a:r>
            <a:r>
              <a:rPr lang="en-US" sz="1600" dirty="0"/>
              <a:t>[player]; absent -&gt; </a:t>
            </a:r>
            <a:r>
              <a:rPr lang="en-US" sz="1600" dirty="0" err="1"/>
              <a:t>kLosesTo</a:t>
            </a:r>
            <a:r>
              <a:rPr lang="en-US" sz="1600" dirty="0"/>
              <a:t>[player].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b="1" dirty="0"/>
              <a:t>5. Sense HAT: Pi's symbol (2 s) -&gt; full green (won) / red (lost) / blue (tie) (1.5 s)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   Pause 800 </a:t>
            </a:r>
            <a:r>
              <a:rPr lang="en-US" sz="1600" dirty="0" err="1"/>
              <a:t>ms</a:t>
            </a:r>
            <a:r>
              <a:rPr lang="en-US" sz="1600" dirty="0"/>
              <a:t>, then loop back to the countdown.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88AF7-0B25-7949-8B1E-F97E5E38D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9783" y="4816249"/>
            <a:ext cx="8989258" cy="1645759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pPr defTabSz="914400"/>
            <a:r>
              <a:rPr lang="en-US" sz="3800" dirty="0"/>
              <a:t>logging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7364D52-A79E-55DA-9FB6-BF2ECA8C5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783" y="262239"/>
            <a:ext cx="8989258" cy="421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47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354" y="1248156"/>
            <a:ext cx="9690116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951" y="1060704"/>
            <a:ext cx="10064922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0554" y="467418"/>
            <a:ext cx="7727716" cy="1188720"/>
          </a:xfrm>
          <a:solidFill>
            <a:srgbClr val="FFFFFF"/>
          </a:solidFill>
        </p:spPr>
        <p:txBody>
          <a:bodyPr vert="horz" lIns="182880" tIns="182880" rIns="182880" bIns="182880" rtlCol="0" anchor="ctr">
            <a:normAutofit/>
          </a:bodyPr>
          <a:lstStyle/>
          <a:p>
            <a:pPr defTabSz="914400"/>
            <a:r>
              <a:rPr lang="en-US" sz="2800" kern="1200" cap="all" spc="200" baseline="0" dirty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1552" y="2355058"/>
            <a:ext cx="8599918" cy="2879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Backbone: MobileNetV3Small (ImageNet, fine-tuned)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Input: 160x160 RGB, </a:t>
            </a:r>
            <a:r>
              <a:rPr lang="en-US" dirty="0" err="1"/>
              <a:t>include_preprocessing</a:t>
            </a:r>
            <a:r>
              <a:rPr lang="en-US" dirty="0"/>
              <a:t>=True (norm baked in)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Head: GAP -&gt; Dense(64, L2) -&gt; Dropout(0.5) -&gt; Dense(3, </a:t>
            </a:r>
            <a:r>
              <a:rPr lang="en-US" dirty="0" err="1"/>
              <a:t>softmax</a:t>
            </a:r>
            <a:r>
              <a:rPr lang="en-US" dirty="0"/>
              <a:t>)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Output: rock / paper / scissors (no garbage class)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354" y="1248156"/>
            <a:ext cx="9690116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951" y="1060704"/>
            <a:ext cx="10064922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B9F1D-CED0-70D1-AA76-E9EC999B2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554" y="467418"/>
            <a:ext cx="7727716" cy="1188720"/>
          </a:xfrm>
          <a:solidFill>
            <a:srgbClr val="FFFFFF"/>
          </a:solidFill>
        </p:spPr>
        <p:txBody>
          <a:bodyPr vert="horz" lIns="182880" tIns="182880" rIns="182880" bIns="182880" rtlCol="0" anchor="ctr">
            <a:normAutofit/>
          </a:bodyPr>
          <a:lstStyle/>
          <a:p>
            <a:pPr defTabSz="914400"/>
            <a:r>
              <a:rPr lang="en-US" sz="2800" kern="1200" cap="all" spc="200" baseline="0" dirty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training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D301B5-61AB-55EB-2A0F-FFDD3A733A5E}"/>
              </a:ext>
            </a:extLst>
          </p:cNvPr>
          <p:cNvSpPr txBox="1"/>
          <p:nvPr/>
        </p:nvSpPr>
        <p:spPr>
          <a:xfrm>
            <a:off x="1705617" y="2291262"/>
            <a:ext cx="8777226" cy="2879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spcBef>
                <a:spcPts val="10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b="1" dirty="0" err="1"/>
              <a:t>rps</a:t>
            </a:r>
            <a:r>
              <a:rPr lang="en-US" sz="1600" b="1" dirty="0"/>
              <a:t>-project/03_train.py</a:t>
            </a:r>
          </a:p>
          <a:p>
            <a:pPr indent="-228600" defTabSz="914400">
              <a:spcBef>
                <a:spcPts val="10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Train/</a:t>
            </a:r>
            <a:r>
              <a:rPr lang="en-US" sz="1600" dirty="0" err="1"/>
              <a:t>val</a:t>
            </a:r>
            <a:r>
              <a:rPr lang="en-US" sz="1600" dirty="0"/>
              <a:t> split 80/20, stratified by class</a:t>
            </a:r>
          </a:p>
          <a:p>
            <a:pPr indent="-228600" defTabSz="914400">
              <a:spcBef>
                <a:spcPts val="10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Oversample minority classes to balance training set</a:t>
            </a:r>
          </a:p>
          <a:p>
            <a:pPr indent="-228600" defTabSz="914400">
              <a:spcBef>
                <a:spcPts val="10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Augmentation: random rotation/translation/zoom/brightness/contrast</a:t>
            </a:r>
          </a:p>
          <a:p>
            <a:pPr indent="-228600" defTabSz="914400">
              <a:spcBef>
                <a:spcPts val="10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Optimizer: Adam + cosine LR decay, class weights, early stopping</a:t>
            </a:r>
          </a:p>
          <a:p>
            <a:pPr indent="-228600" defTabSz="914400">
              <a:spcBef>
                <a:spcPts val="10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Export: int8 </a:t>
            </a:r>
            <a:r>
              <a:rPr lang="en-US" sz="1600" dirty="0" err="1"/>
              <a:t>TFLite</a:t>
            </a:r>
            <a:r>
              <a:rPr lang="en-US" sz="1600" dirty="0"/>
              <a:t> (uint8 I/O), </a:t>
            </a:r>
            <a:r>
              <a:rPr lang="en-US" sz="1600" dirty="0" err="1"/>
              <a:t>softmax</a:t>
            </a:r>
            <a:r>
              <a:rPr lang="en-US" sz="1600" dirty="0"/>
              <a:t> baked in -&gt; 1.3 MB file</a:t>
            </a:r>
          </a:p>
        </p:txBody>
      </p:sp>
    </p:spTree>
    <p:extLst>
      <p:ext uri="{BB962C8B-B14F-4D97-AF65-F5344CB8AC3E}">
        <p14:creationId xmlns:p14="http://schemas.microsoft.com/office/powerpoint/2010/main" val="1659154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354" y="1248156"/>
            <a:ext cx="9690116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951" y="1060704"/>
            <a:ext cx="10064922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0554" y="467418"/>
            <a:ext cx="772771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dirty="0" err="1"/>
              <a:t>TFLite</a:t>
            </a:r>
            <a:r>
              <a:rPr dirty="0"/>
              <a:t> size &amp; inferences/sec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5617" y="2291262"/>
            <a:ext cx="8777226" cy="2879256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Model file: model/</a:t>
            </a:r>
            <a:r>
              <a:rPr lang="en-GB" dirty="0" err="1">
                <a:solidFill>
                  <a:schemeClr val="tx1"/>
                </a:solidFill>
              </a:rPr>
              <a:t>model.tflite</a:t>
            </a:r>
            <a:r>
              <a:rPr lang="en-GB" dirty="0">
                <a:solidFill>
                  <a:schemeClr val="tx1"/>
                </a:solidFill>
              </a:rPr>
              <a:t> = 1.28 MB / 100 MB budget (~1.3 % used)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Headroom for adding a second .</a:t>
            </a:r>
            <a:r>
              <a:rPr lang="en-GB" dirty="0" err="1">
                <a:solidFill>
                  <a:schemeClr val="tx1"/>
                </a:solidFill>
              </a:rPr>
              <a:t>tflite</a:t>
            </a:r>
            <a:r>
              <a:rPr lang="en-GB" dirty="0">
                <a:solidFill>
                  <a:schemeClr val="tx1"/>
                </a:solidFill>
              </a:rPr>
              <a:t> (e.g. an accessory classifier) without changes</a:t>
            </a:r>
          </a:p>
          <a:p>
            <a:r>
              <a:rPr lang="en-GB" dirty="0">
                <a:solidFill>
                  <a:schemeClr val="tx1"/>
                </a:solidFill>
              </a:rPr>
              <a:t>Per-round perf log printed by the binary: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[perf] 41 inferences in 1320 </a:t>
            </a:r>
            <a:r>
              <a:rPr lang="en-GB" dirty="0" err="1">
                <a:solidFill>
                  <a:schemeClr val="tx1"/>
                </a:solidFill>
              </a:rPr>
              <a:t>ms</a:t>
            </a:r>
            <a:r>
              <a:rPr lang="en-GB" dirty="0">
                <a:solidFill>
                  <a:schemeClr val="tx1"/>
                </a:solidFill>
              </a:rPr>
              <a:t> (31.1 inf/s, classify </a:t>
            </a:r>
            <a:r>
              <a:rPr lang="en-GB" dirty="0" err="1">
                <a:solidFill>
                  <a:schemeClr val="tx1"/>
                </a:solidFill>
              </a:rPr>
              <a:t>avg</a:t>
            </a:r>
            <a:r>
              <a:rPr lang="en-GB" dirty="0">
                <a:solidFill>
                  <a:schemeClr val="tx1"/>
                </a:solidFill>
              </a:rPr>
              <a:t>=22.18 </a:t>
            </a:r>
            <a:r>
              <a:rPr lang="en-GB" dirty="0" err="1">
                <a:solidFill>
                  <a:schemeClr val="tx1"/>
                </a:solidFill>
              </a:rPr>
              <a:t>ms</a:t>
            </a:r>
            <a:r>
              <a:rPr lang="en-GB" dirty="0">
                <a:solidFill>
                  <a:schemeClr val="tx1"/>
                </a:solidFill>
              </a:rPr>
              <a:t> max=31.40 </a:t>
            </a:r>
            <a:r>
              <a:rPr lang="en-GB" dirty="0" err="1">
                <a:solidFill>
                  <a:schemeClr val="tx1"/>
                </a:solidFill>
              </a:rPr>
              <a:t>ms</a:t>
            </a:r>
            <a:r>
              <a:rPr lang="en-GB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Tag flips to [perf-warn] when rate falls below 30 -&gt; trivial to grep in </a:t>
            </a:r>
            <a:r>
              <a:rPr lang="en-GB" dirty="0" err="1">
                <a:solidFill>
                  <a:schemeClr val="tx1"/>
                </a:solidFill>
              </a:rPr>
              <a:t>journalctl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Measured on Raspberry Pi 3 (Cortex-A53, 4 threads via Interpreter::</a:t>
            </a:r>
            <a:r>
              <a:rPr lang="en-GB" dirty="0" err="1">
                <a:solidFill>
                  <a:schemeClr val="tx1"/>
                </a:solidFill>
              </a:rPr>
              <a:t>SetNumThreads</a:t>
            </a:r>
            <a:r>
              <a:rPr lang="en-GB" dirty="0">
                <a:solidFill>
                  <a:schemeClr val="tx1"/>
                </a:solidFill>
              </a:rPr>
              <a:t>(4)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354" y="1248156"/>
            <a:ext cx="9690116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951" y="1060704"/>
            <a:ext cx="10064922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0554" y="467418"/>
            <a:ext cx="772771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Accuracy: training vs real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5617" y="2291262"/>
            <a:ext cx="8777226" cy="287925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</a:rPr>
              <a:t>Training run summary (printed at end of 03_train.py):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Train Loss: 0.5232 | Train Accuracy: 0.7783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Val Loss: 0.7143 | Val Accuracy: 0.7535 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</a:rPr>
              <a:t>Stability gate hides occasional single-frame mis-reads from the user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</a:rPr>
              <a:t>For real world testing with group members we checked the logs 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and it was working good about 70% of the times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354" y="1248156"/>
            <a:ext cx="9690116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951" y="1060704"/>
            <a:ext cx="10064922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0554" y="467418"/>
            <a:ext cx="772771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Accessory detection (rigging)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5617" y="2291262"/>
            <a:ext cx="8777226" cy="287925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</a:rPr>
              <a:t>Goal: ONLY the chosen accessory enables wins; other coloured items must not trigger it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</a:rPr>
              <a:t>Approach: HSV mask + per-startup baseline (no second neural network needed)</a:t>
            </a:r>
          </a:p>
          <a:p>
            <a:pPr lvl="1"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</a:rPr>
              <a:t>cv::</a:t>
            </a:r>
            <a:r>
              <a:rPr lang="en-GB" dirty="0" err="1">
                <a:solidFill>
                  <a:schemeClr val="tx1"/>
                </a:solidFill>
              </a:rPr>
              <a:t>cvtColor</a:t>
            </a:r>
            <a:r>
              <a:rPr lang="en-GB" dirty="0">
                <a:solidFill>
                  <a:schemeClr val="tx1"/>
                </a:solidFill>
              </a:rPr>
              <a:t>(RGB-&gt;HSV) -&gt; cv::</a:t>
            </a:r>
            <a:r>
              <a:rPr lang="en-GB" dirty="0" err="1">
                <a:solidFill>
                  <a:schemeClr val="tx1"/>
                </a:solidFill>
              </a:rPr>
              <a:t>inRange</a:t>
            </a:r>
            <a:r>
              <a:rPr lang="en-GB" dirty="0">
                <a:solidFill>
                  <a:schemeClr val="tx1"/>
                </a:solidFill>
              </a:rPr>
              <a:t>(hue/sat/</a:t>
            </a:r>
            <a:r>
              <a:rPr lang="en-GB" dirty="0" err="1">
                <a:solidFill>
                  <a:schemeClr val="tx1"/>
                </a:solidFill>
              </a:rPr>
              <a:t>val</a:t>
            </a:r>
            <a:r>
              <a:rPr lang="en-GB" dirty="0">
                <a:solidFill>
                  <a:schemeClr val="tx1"/>
                </a:solidFill>
              </a:rPr>
              <a:t> bounds) -&gt; cv::</a:t>
            </a:r>
            <a:r>
              <a:rPr lang="en-GB" dirty="0" err="1">
                <a:solidFill>
                  <a:schemeClr val="tx1"/>
                </a:solidFill>
              </a:rPr>
              <a:t>countNonZero</a:t>
            </a:r>
            <a:endParaRPr lang="en-GB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</a:rPr>
              <a:t>Calibrate baseline by averaging 60 empty-scene frames at startup</a:t>
            </a:r>
          </a:p>
          <a:p>
            <a:pPr lvl="1"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</a:rPr>
              <a:t>'Present' if live count &gt; baseline * </a:t>
            </a:r>
            <a:r>
              <a:rPr lang="en-GB" dirty="0" err="1">
                <a:solidFill>
                  <a:schemeClr val="tx1"/>
                </a:solidFill>
              </a:rPr>
              <a:t>threshold_multiplier</a:t>
            </a:r>
            <a:r>
              <a:rPr lang="en-GB" dirty="0">
                <a:solidFill>
                  <a:schemeClr val="tx1"/>
                </a:solidFill>
              </a:rPr>
              <a:t> (default 1.25)</a:t>
            </a: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</a:rPr>
              <a:t>Tunable</a:t>
            </a:r>
            <a:r>
              <a:rPr lang="en-GB" dirty="0">
                <a:solidFill>
                  <a:schemeClr val="tx1"/>
                </a:solidFill>
              </a:rPr>
              <a:t> without rebuild via </a:t>
            </a:r>
            <a:r>
              <a:rPr lang="en-GB" dirty="0" err="1">
                <a:solidFill>
                  <a:schemeClr val="tx1"/>
                </a:solidFill>
              </a:rPr>
              <a:t>accessory.conf</a:t>
            </a:r>
            <a:r>
              <a:rPr lang="en-GB" dirty="0">
                <a:solidFill>
                  <a:schemeClr val="tx1"/>
                </a:solidFill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</a:rPr>
              <a:t>hue_min</a:t>
            </a:r>
            <a:r>
              <a:rPr lang="en-GB" dirty="0">
                <a:solidFill>
                  <a:schemeClr val="tx1"/>
                </a:solidFill>
              </a:rPr>
              <a:t>/max, </a:t>
            </a:r>
            <a:r>
              <a:rPr lang="en-GB" dirty="0" err="1">
                <a:solidFill>
                  <a:schemeClr val="tx1"/>
                </a:solidFill>
              </a:rPr>
              <a:t>sat_min</a:t>
            </a:r>
            <a:r>
              <a:rPr lang="en-GB" dirty="0">
                <a:solidFill>
                  <a:schemeClr val="tx1"/>
                </a:solidFill>
              </a:rPr>
              <a:t>/max, </a:t>
            </a:r>
            <a:r>
              <a:rPr lang="en-GB" dirty="0" err="1">
                <a:solidFill>
                  <a:schemeClr val="tx1"/>
                </a:solidFill>
              </a:rPr>
              <a:t>val_min</a:t>
            </a:r>
            <a:r>
              <a:rPr lang="en-GB" dirty="0">
                <a:solidFill>
                  <a:schemeClr val="tx1"/>
                </a:solidFill>
              </a:rPr>
              <a:t>/max, </a:t>
            </a:r>
            <a:r>
              <a:rPr lang="en-GB" dirty="0" err="1">
                <a:solidFill>
                  <a:schemeClr val="tx1"/>
                </a:solidFill>
              </a:rPr>
              <a:t>calibration_frames</a:t>
            </a:r>
            <a:r>
              <a:rPr lang="en-GB" dirty="0">
                <a:solidFill>
                  <a:schemeClr val="tx1"/>
                </a:solidFill>
              </a:rPr>
              <a:t>, </a:t>
            </a:r>
            <a:r>
              <a:rPr lang="en-GB" dirty="0" err="1">
                <a:solidFill>
                  <a:schemeClr val="tx1"/>
                </a:solidFill>
              </a:rPr>
              <a:t>threshold_multiplier</a:t>
            </a:r>
            <a:endParaRPr lang="en-GB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</a:rPr>
              <a:t>--no-accessory flag falls back to a fair (random) game for A/B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354" y="1248156"/>
            <a:ext cx="9690116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951" y="1060704"/>
            <a:ext cx="10064922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0554" y="467418"/>
            <a:ext cx="772771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Issues &amp; pitfalls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3471" y="1973853"/>
            <a:ext cx="8841881" cy="3318582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</a:rPr>
              <a:t>First model (tiny custom CNN, 96x72 grayscale + CLAHE + Otsu) struggled to generalise</a:t>
            </a:r>
          </a:p>
          <a:p>
            <a:pPr lvl="1"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</a:rPr>
              <a:t>Swapped to MobileNetV3Small transfer learning; accuracy jumped, code path simplified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</a:rPr>
              <a:t>TF 2.16 </a:t>
            </a:r>
            <a:r>
              <a:rPr lang="en-GB" sz="1600" dirty="0" err="1">
                <a:solidFill>
                  <a:schemeClr val="tx1"/>
                </a:solidFill>
              </a:rPr>
              <a:t>TFLite</a:t>
            </a:r>
            <a:r>
              <a:rPr lang="en-GB" sz="1600" dirty="0">
                <a:solidFill>
                  <a:schemeClr val="tx1"/>
                </a:solidFill>
              </a:rPr>
              <a:t> converter dropped final </a:t>
            </a:r>
            <a:r>
              <a:rPr lang="en-GB" sz="1600" dirty="0" err="1">
                <a:solidFill>
                  <a:schemeClr val="tx1"/>
                </a:solidFill>
              </a:rPr>
              <a:t>softmax</a:t>
            </a:r>
            <a:r>
              <a:rPr lang="en-GB" sz="1600" dirty="0">
                <a:solidFill>
                  <a:schemeClr val="tx1"/>
                </a:solidFill>
              </a:rPr>
              <a:t> silently on </a:t>
            </a:r>
            <a:r>
              <a:rPr lang="en-GB" sz="1600" dirty="0" err="1">
                <a:solidFill>
                  <a:schemeClr val="tx1"/>
                </a:solidFill>
              </a:rPr>
              <a:t>Keras</a:t>
            </a:r>
            <a:r>
              <a:rPr lang="en-GB" sz="1600" dirty="0">
                <a:solidFill>
                  <a:schemeClr val="tx1"/>
                </a:solidFill>
              </a:rPr>
              <a:t> 3 Sequential models</a:t>
            </a:r>
          </a:p>
          <a:p>
            <a:pPr lvl="1"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</a:rPr>
              <a:t>Confidence scores were not normalised -&gt; our threshold logic was off</a:t>
            </a:r>
          </a:p>
          <a:p>
            <a:pPr lvl="1"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</a:rPr>
              <a:t>Re-baked </a:t>
            </a:r>
            <a:r>
              <a:rPr lang="en-GB" dirty="0" err="1">
                <a:solidFill>
                  <a:schemeClr val="tx1"/>
                </a:solidFill>
              </a:rPr>
              <a:t>softmax</a:t>
            </a:r>
            <a:r>
              <a:rPr lang="en-GB" dirty="0">
                <a:solidFill>
                  <a:schemeClr val="tx1"/>
                </a:solidFill>
              </a:rPr>
              <a:t> into the new export; C++ stopped applying its own </a:t>
            </a:r>
            <a:r>
              <a:rPr lang="en-GB" dirty="0" err="1">
                <a:solidFill>
                  <a:schemeClr val="tx1"/>
                </a:solidFill>
              </a:rPr>
              <a:t>softmax</a:t>
            </a:r>
            <a:endParaRPr lang="en-GB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</a:rPr>
              <a:t>Picamera2 'RGB888' format actually returns BGR; reference Python used BGR2HSV</a:t>
            </a:r>
          </a:p>
          <a:p>
            <a:pPr lvl="1"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</a:rPr>
              <a:t>Our C++ uses RGB2HSV correctly -&gt; HSV defaults need re-tuning here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</a:rPr>
              <a:t>Strict 4-consecutive-frame consensus was too brittle (one blurry frame reset count)</a:t>
            </a:r>
          </a:p>
          <a:p>
            <a:pPr lvl="1"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</a:rPr>
              <a:t>Replaced with sliding window of 8, accept &gt;=5 agreeing, skip low-confidence frames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</a:rPr>
              <a:t>Devcontainer</a:t>
            </a:r>
            <a:r>
              <a:rPr lang="en-GB" sz="1600" dirty="0">
                <a:solidFill>
                  <a:schemeClr val="tx1"/>
                </a:solidFill>
              </a:rPr>
              <a:t> cannot reach the Pi network -&gt; Mac drives all </a:t>
            </a:r>
            <a:r>
              <a:rPr lang="en-GB" sz="1600" dirty="0" err="1">
                <a:solidFill>
                  <a:schemeClr val="tx1"/>
                </a:solidFill>
              </a:rPr>
              <a:t>rsync</a:t>
            </a:r>
            <a:r>
              <a:rPr lang="en-GB" sz="1600" dirty="0">
                <a:solidFill>
                  <a:schemeClr val="tx1"/>
                </a:solidFill>
              </a:rPr>
              <a:t>/ssh; </a:t>
            </a:r>
            <a:r>
              <a:rPr lang="en-GB" sz="1600" dirty="0" err="1">
                <a:solidFill>
                  <a:schemeClr val="tx1"/>
                </a:solidFill>
              </a:rPr>
              <a:t>sysroot</a:t>
            </a:r>
            <a:r>
              <a:rPr lang="en-GB" sz="1600" dirty="0">
                <a:solidFill>
                  <a:schemeClr val="tx1"/>
                </a:solidFill>
              </a:rPr>
              <a:t> pulled once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354" y="1248156"/>
            <a:ext cx="9690116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951" y="1060704"/>
            <a:ext cx="10064922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0554" y="467418"/>
            <a:ext cx="772771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dirty="0"/>
              <a:t>Live demo</a:t>
            </a:r>
          </a:p>
        </p:txBody>
      </p:sp>
      <p:pic>
        <p:nvPicPr>
          <p:cNvPr id="4" name="VID_20260621_163239412">
            <a:hlinkClick r:id="" action="ppaction://media"/>
            <a:extLst>
              <a:ext uri="{FF2B5EF4-FFF2-40B4-BE49-F238E27FC236}">
                <a16:creationId xmlns:a16="http://schemas.microsoft.com/office/drawing/2014/main" id="{6CE89285-1CFD-B57B-C949-16DB12E37AE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13133" y="1715886"/>
            <a:ext cx="2162558" cy="38477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20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4167985-D6E9-40FF-97C0-4B6D373E8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901" y="640080"/>
            <a:ext cx="10909023" cy="462686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801362-349C-44BE-BEF6-8E926E1D3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5986" y="804672"/>
            <a:ext cx="10576852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2400" y="1289303"/>
            <a:ext cx="9635933" cy="3339303"/>
          </a:xfrm>
          <a:ln>
            <a:noFill/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pPr defTabSz="914400"/>
            <a:r>
              <a:rPr lang="en-US" sz="50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Thanks for your attention!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1004</Words>
  <Application>Microsoft Macintosh PowerPoint</Application>
  <PresentationFormat>Custom</PresentationFormat>
  <Paragraphs>93</Paragraphs>
  <Slides>14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Gill Sans MT</vt:lpstr>
      <vt:lpstr>Parcel</vt:lpstr>
      <vt:lpstr>Rock-Paper-Lose</vt:lpstr>
      <vt:lpstr>Project overview</vt:lpstr>
      <vt:lpstr>Hard constraints</vt:lpstr>
      <vt:lpstr>Application architecture</vt:lpstr>
      <vt:lpstr>Dataflow per round</vt:lpstr>
      <vt:lpstr>logging</vt:lpstr>
      <vt:lpstr>Model architecture</vt:lpstr>
      <vt:lpstr>training</vt:lpstr>
      <vt:lpstr>TFLite size &amp; inferences/sec</vt:lpstr>
      <vt:lpstr>Accuracy: training vs real world</vt:lpstr>
      <vt:lpstr>Accessory detection (rigging)</vt:lpstr>
      <vt:lpstr>Issues &amp; pitfalls encountered</vt:lpstr>
      <vt:lpstr>Live demo</vt:lpstr>
      <vt:lpstr>Thanks for your attention!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Ranzmaier Andreas - s2410929025</cp:lastModifiedBy>
  <cp:revision>7</cp:revision>
  <dcterms:created xsi:type="dcterms:W3CDTF">2013-01-27T09:14:16Z</dcterms:created>
  <dcterms:modified xsi:type="dcterms:W3CDTF">2026-06-21T21:09:30Z</dcterms:modified>
  <cp:category/>
</cp:coreProperties>
</file>